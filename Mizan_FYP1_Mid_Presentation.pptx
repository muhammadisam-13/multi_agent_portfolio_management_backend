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MIZAN</a:t>
            </a:r>
          </a:p>
          <a:p>
            <a:pPr>
              <a:spcAft>
                <a:spcPts val="2000"/>
              </a:spcAft>
              <a:defRPr sz="2400">
                <a:solidFill>
                  <a:srgbClr val="4CA698"/>
                </a:solidFill>
              </a:defRPr>
            </a:pPr>
            <a:r>
              <a:t>A Faithful Multi-Agent System for Portfolio Management</a:t>
            </a:r>
          </a:p>
          <a:p>
            <a:pPr>
              <a:spcAft>
                <a:spcPts val="2800"/>
              </a:spcAft>
              <a:defRPr sz="1400">
                <a:solidFill>
                  <a:srgbClr val="BECDCD"/>
                </a:solidFill>
              </a:defRPr>
            </a:pPr>
            <a:r>
              <a:t>FYP-1 Mid-Term Evaluation — Form 2 Presentation &amp; Live Prototype Defense</a:t>
            </a:r>
            <a:br/>
            <a:r>
              <a:t>October 2026 | FAST School of Computing, NUCES Islamabad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Presented by:</a:t>
            </a:r>
            <a:br/>
            <a:r>
              <a:t>Shahzeb Rizwan (23I-0610)  |  Muhammad Isam (23I-0735)  |  Aaiz Ur Rehman Kazmi (23I-0589)</a:t>
            </a:r>
            <a:br/>
            <a:r>
              <a:t>Supervisor: Dr. Ahmad Raza Shahid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Verification Issues &amp; The Consistency Illusion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Why unverified multi-agent financial explanations are more dangerous than no explanation at all.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Problem &amp;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237744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91440" cy="237744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The Verification Problem in Financial AI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10–20% hallucination rate on complex financial reasoning tasks (FAITH benchmark); 41% of firms report guardrails create false confidence.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Consistency Illusion (Wang &amp; Yang, Jun 2026): In multi-agent debate, surface agreement rises (contradiction rate falls) while semantic similarity of reasoning drops.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Agents converge on a stock verdict while reasoning about different facts, or flip due to peer pressure rather than new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237744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91440" cy="237744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89888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Mizan: Product + Research Contribution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Dual-Part System: (1) Multi-asset Pakistani portfolio manager (PSX equities, mutual funds, gold, committees/ROSCAs) in Flutter; (2) Local LLM agent decision-support for PSX equities.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Core Contribution: A non-LLM faithfulness evaluation layer (counterfactual evidence perturbation + frozen scorers) testing whether stated reasons actually drive decisions.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PSX is the practical testbed; causal faithfulness evaluation is the research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1064240" cy="237744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91440" cy="237744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041648"/>
            <a:ext cx="10744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Agreed FYP-1 Mid Evaluation Scope (Supervisor Agreement — 15 October 2026)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Included &amp; Built at Mid: (1) PSX Retrieval Layer (EvidenceItem &amp; EvidenceBundle contract, psxdata price loader, announcements fetcher, PDF-to-text + OCR flag, strict as_of filter, ticker isolation, offline cache/snapshots); (2) Local Model Interface (Qwen3-8B Q4_K_M on university RTX 3080 via Ollama, JSON-schema validation &amp; retries); (3) Flutter Portfolio POC + Supabase/Demo repository layer.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Excluded at Mid (Design &amp; Plan for Iteration 2 / FYP-2): Multi-agent role debate implementation, faithfulness perturbation pipeline execution, FastAPI HTTP wrapper, and optional Shariah/QLoRA extensions.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What Already Exists, the Real Gap &amp; Research Findings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Three literature passes (Aug, 14 Sep, and 9–15 Oct 2026) reshaped our architecture.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R&amp;D &amp; Design Evolution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914400"/>
                <a:gridCol w="1463040"/>
                <a:gridCol w="1371600"/>
                <a:gridCol w="4206240"/>
              </a:tblGrid>
              <a:tr h="47026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System / Paper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Faithfulness Audit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Local (10GB GPU)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Limitation / Role in Mizan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FinRobot / JPMorgan (2024–25)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 (Cloud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Focuses on returns; requires OpenAI API key; zero faithfulness check.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FinGPT (Yang et al.)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 (7B)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Strong on classification, weak on generative debate reasoning (28.5% QA).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M-SAEA (ACL Findings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Risk Audit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Audits broad risk, not whether agent explanations causally drive verdicts.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EvidGround + Wang &amp; Yang (2026)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Single / Yes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 (Medical)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 (Grounding/CARA)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 (70B–72B)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Never tested on finance or on 8B models fitting a single 10 GB GPU.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Hao et al. (May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Flip Critique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Proves raw answer flips mix instability, conformity &amp; persuasion -&gt; needs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Mizan (Ours)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 (PSX)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 (Perturbation)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Yes (Qwen3-8B)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Counterfactual perturbation + non-LLM scorers on local 8B model.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754880"/>
            <a:ext cx="11064240" cy="169164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91440" cy="169164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64608"/>
            <a:ext cx="10744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Three Critical Post-Proposal Findings That Reshaped Our Design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1. Ollama Grammar Finding (14 Sep): Ollama supports JSON-schema output (format), not custom GBNF grammars -&gt; CLAIM/GROUND/STANCE expressed as Pydantic JSON schema.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2. Baseline Instability Finding (Hao et al.): Flip scoring without a self-reflection control confounds instability with conformity -&gt; refined method around counterfactual perturbation + fixed-seed variance runs.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3. 10 GB VRAM &amp; Confounding Finding: Two 8B models exceed 10 GB and confound faithfulness -&gt; all agents share one Qwen3-8B (Q4_K_M) model with distinct role system prompts.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Proposal Feedback &amp; Action Register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Every panel directive and self-identified technical gap tracked to verifiable repository evidence.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1 | 10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017520"/>
                <a:gridCol w="3474720"/>
                <a:gridCol w="1188720"/>
                <a:gridCol w="2743200"/>
              </a:tblGrid>
              <a:tr h="69233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Feedback / Required Change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 Taken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Live Evidence Link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[Panel Action 1: Scope &amp; Dataset Realism on PSX]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Narrowed mid scope to leak-free PSX retrieval + local 8B serving; built 7-ticker snapshot.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Sec 1.6, data/snapshots/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[Panel Action 2: Clarify Non-LLM Faithfulness Baseline]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Adopted perturbation base paper + fixed-seed variance control; deferred LoRA/Shariah.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Sec 2.5, 2.8, Appendix 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[Panel Action 3: End-to-End Product Framing]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Integrated Mizan portfolio tracker POC (8 asset classes, repository tests) + AI equity scope.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Sec 1.1, Table 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(Self-Identified) Ollama lacks custom GBNF grammar support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Replaced GBNF with Pydantic JSON schema passed to Ollama format parameter + retries.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Sec 5.4, LLM interface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(Self-Identified) Flip scoring lacks baseline instability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Added fixed-seed repeated runs &amp; self-reflection control in perturbation design.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In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Sec 2.5.2, Sec 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(Self-Identified) PSX portal terms, tokens &amp; 403 blocks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Wrote compliance record; added rate-limit, User-Agent, download-once cache &amp; offline switch.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docs/sources-and-compliance.md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Iteration Strategy, Progress Against Plan &amp; Recovery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Transparent tracking of planned vs. actual progress, 2-week pause justification, and recovery milestones.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2 | 10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64008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Proposal Milestone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Actual Status at Mid (16 Oct 2026)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Literature review &amp; architecture finalisation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Weeks 1–4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Done: Proposal accepted; 7 additional papers reviewed on 14 Sep 2026.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Confirm PSX / SBP / PBS data access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Weeks 1–4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PSX access characterised (terms, token, 403) on 11–15 Oct; SBP planned; PBS dropped.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Deploy Qwen3-8B on Ollama (RTX 3080)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Weeks 1–4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Done: Feasibility verified 14 Sep; Qwen3-8B Q4_K_M deployed &amp; measured via LLM interface.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Data ingestion &amp; leak-free retrieval pipeline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Weeks 4–8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Done: Schemas, psxdata prices, announcements parser, PDF extractor, as_of bundle builder.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Structured output for CLAIM/GROUND/STANCE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Weeks 4–8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Done: Expressing schema via Pydantic + Ollama JSON format with retry 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Debate loop, faithfulness scorers, LoRA/Shariah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Weeks 4–12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Rescheduled to Iteration 2 / FYP-2 by supervisor agreement (15 Oct 2026).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663440"/>
            <a:ext cx="11064240" cy="178308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663440"/>
            <a:ext cx="91440" cy="178308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773168"/>
            <a:ext cx="10744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Delays, Deviations &amp; Concrete Recovery Plan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Schedule Slip &amp; Cause: A ~2-week pause followed the proposal defence; active development restarted on 9 October 2026.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Recovery Action (Agreed 15 Oct 2026): Narrowed Mid to completing and verifying the retrieval foundation (M1) and local model interface (M2) 100% before agent debate begins.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Iteration 2 Buffer (Oct–Dec 2026): Owner-assigned weekly milestones (Table 9.1) lead directly to the Thin End-to-End Slice (Bundle -&gt; 1 Agent turn citing Evidence IDs) for FYP-1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Software Requirements &amp; Verifiable Acceptance Checks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Every mid-scope requirement has a testable acceptance check wired directly to automated pytest cases.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4 | 10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4023360"/>
                <a:gridCol w="4206240"/>
              </a:tblGrid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 / Category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 (The system shall...)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Objective Acceptance Check (Automated Test)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FR-R1,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M1: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Build EvidenceBundle for (ticker, as_of) with only items dated &lt;= as_of.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Fixture with future-dated item (&gt; as_of) is strictly absent from bundle.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FR-R3, R4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M1: Retrieval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Include only target ticker + MACRO items; return empty list for unknown ticker.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Two-ticker fixture shows zero cross-leakage; unknown ticker returns items == [].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FR-R5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M1: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Assign each EvidenceItem a unique, deterministic ID across rebuilds.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Rebuilding the same snapshot twice yields identical IDs and content hashes.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FR-R6, R7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M1: Retrieval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Load psxdata daily prices &amp; parse PSX announcements into EvidenceItems.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Row count &amp; date range validated; parsed items have non-empty text &amp; metadata.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FR-R8–R10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M1: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Extract PDF text (flag scanned PDFs for OCR), cache all files, allow offline mode.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Scanned PDF sets OCR flag; 2nd run makes 0 network calls; offline build succeeds.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FR-M1, M2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M2: LLM Client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Return output matching Pydantic JSON schema; retry then raise clear error on fail.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Valid call passes schema check; forced invalid mock triggers retries then error.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NFR-1..8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Quality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Reproducible builds, polite rate-limit, &lt;10 GB VRAM, CPU-portable tests, zero raw data in Git.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.gitignore blocks data/cache/; simulated 403 falls back to cache; VRAM &lt; 10 GB.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System Architecture &amp; Design Evolution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Clear separation between built mid-scope components (M1, M2, POC) and planned modules (M3–M5).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5 | 15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246888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91440" cy="246888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Layered Architecture (Built vs. Planned)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Built Core Package (Plain Python, CLI-driven):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M1 Retrieval Layer: schemas.py, fetcher/, data/ (psxdata, pdf_extract, normalizer), retrieval/bundle.py.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M2 LLM Interface: Pydantic JSON-schema formatting, validation &amp; retry client talking to Ollama (Qwen3-8B Q4_K_M on RTX 3080 over LAN/Tailscale).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Existing Client POC: Flutter multi-asset desktop app (Overview, Portfolio, Goals, Committees, Supabase/Demo repository).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Planned Next: M3 Debate, M4 Faithfulness Scorers, M5 FastAPI Wrapper.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2344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463040"/>
                <a:gridCol w="155448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Proposal Design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 Mid Design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Engineering Rationale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Output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GBNF grammar decoding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Pydantic JSON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Ollama exposes JSON format, not custom GBNF.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Retrieval Store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FAISS/Chroma vector DB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As-of bundles + BM25 first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Small corpus; strict temporal control &gt; semantic search.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Data 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Manual PDF downloads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Guarded fetcher + 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PSX portal tokens &amp; 403s discovered 11–13 Oct.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Faithfulness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4 scorers (uncontrolled flips)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Perturbation + seed control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Hao et al. baseline instability control required.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Product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Debate-only prototype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Full Portfolio App + AI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Addresses Pakistani retail multi-asset needs.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931920"/>
            <a:ext cx="11064240" cy="237744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91440" cy="237744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041648"/>
            <a:ext cx="10744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Key Architectural Decisions &amp; Justification (Table 5.4)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Why Plain Python Core + CLI First? Keeps retrieval and AI logic 100% testable without web scaffolding; FastAPI is a thin wrapper added in Iteration 2.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Why Swappable Fetcher + Offline Switch? Live PSX endpoints can throttle or change tokens at any time; demos and tests never depend on live internet.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Why Narrative Announcements + Prices? OHLCV prices show what happened, not why; agents need dividends, earnings, and notices to form citable arguments.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Domain Model, Data Design &amp; Fetcher Behavior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The two-type Evidence Contract and defensive state machine governing PSX retrieval.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5 | Artefacts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657600" cy="502920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91440" cy="502920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Domain Contract (schemas.py)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EvidenceItem (Immutable Record):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id: str (deterministic hash ID)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ticker: str ('OGDC'..'ENGRO' or 'MACRO')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source: str ('psxdata', 'psx_portal')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type: str ('price', 'result', 'notice')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date: date (publish timestamp)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text: str (normalised text)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EvidenceBundle (Agent Input):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ticker: str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as_of: date (decision cutoff)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items: list[EvidenceItem]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SnapshotManifest (Committed):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URLs, fetch date, item counts, SHA-256 content hashes, rebuild CLI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657600" cy="502920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234440"/>
            <a:ext cx="91440" cy="502920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344168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UC1 Sequence: Building a Bundle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1. Operator invokes build_bundle(ticker, as_of).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2. Snapshot store loads items for ticker + MACRO.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3. If snapshot missing &amp; live fetch enabled: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 • Rate-limited request sent with project User-Agent &amp; token.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 • Raw file saved to git-ignored data/cache/.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 • PDF extracted (or flagged for OCR) &amp; normalised.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4. If live fetch disabled OR 403/timeout: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 • Logs warning clearly; falls back to cached items.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5. Filter enforces item.date &lt;= as_of.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6. Returns leak-free EvidenceBundle.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234440"/>
            <a:ext cx="3383280" cy="502920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91440" cy="502920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344168"/>
            <a:ext cx="3063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4 Hard Data Rules &amp; 7 Tickers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Rule 1 (No Look-Ahead): Strict item.date &lt;= as_of filter prevents future leakage.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Rule 2 (Ticker Isolation): Only target ticker + MACRO items allowed.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Rule 3 (Reproducibility): Frozen snapshots + offline switch.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Rule 4 (Git Hygiene): Zero raw PSX files in Git; only manifests tracked.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7 Sector Tickers: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OGDC (Oil &amp; Gas), LUCK (Cement), HBL (Banking), FFC (Fertiliser), HUBC (Power), SYS (Tech), ENGRO (Conglomerate).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Iteration 1 Implementation: Retrieval, Compliance &amp; Local Model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How the code works, how PSX blocks were handled, and how Qwen3-8B fits in 10 GB VRAM.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3 | Tech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86400" cy="502920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91440" cy="502920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5166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M1: Retrieval Implementation &amp; PSX Compliance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As-Of Filter (retrieval/bundle.py):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keep = [i for i in items if i.ticker in (ticker, 'MACRO') and i.date &lt;= as_of]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Stable IDs (data/normalizer.py): Constructed deterministically from ticker, type, date, and content hash so single items can be cited or perturbed.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PSX Portal Findings (11–15 Oct 2026):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Portal terms prohibit unpermitted scraping; announcements POST returned 404/403 and uses page tokens + reCAPTCHA.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psxdata attaches a PSX token required since 24 Sep 2026.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Our Guardrails (docs/sources-and-compliance.md):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Permission email drafted to PSX; polite rate limit; custom User-Agent; download-once cache; --no-prices and offline flags.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94960" cy="502920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91440" cy="502920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44168"/>
            <a:ext cx="5074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M2: Qwen3-8B Serving &amp; 10 GB VRAM Budget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Hardware: Lab RTX 3080 (10 GB VRAM, i7 10th Gen, 32 GB RAM) + Dev Laptop (IdeaPad Slim 5i, i7 13th Gen, 16 GB RAM, CPU-only).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VRAM Math: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FP16 weights = 8B x 2 bytes = ~16 GB (exceeds 10 GB).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Qwen3-8B at Q4_K_M = ~5.0 GB weights, leaving ~5.0 GB for KV cache (~0.14 MB/token -&gt; ~1.2 GB at 8k context) &amp; scorers.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Structured Output Client: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Sends Pydantic JSON schema via Ollama format parameter.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  • Validates response, retries up to limit on invalid JSON, and uses fixed seed + low temperature.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Measured Benchmarks (Table 6.3): [FILL IN: VRAM, tok/s, latency, N/N valid].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Live Prototype Demonstration Script (7 Verifiable Steps)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Demonstrating happy paths AND failure/edge cases live from the CLI and local GPU endpoint.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3 | 25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4754880"/>
                <a:gridCol w="2011680"/>
              </a:tblGrid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Demo Action (Live CLI / Terminal)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Evaluator Observes (Verification)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 Covered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Inspect committed Snapshot Manifest &amp; .gitignore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Shows source URLs, item counts, SHA-256 hashes; confirms zero raw PSX files in Git.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NFR-1, NFR-5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Build bundle for Ticker A at as_of date (Happy Path)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Returns dated EvidenceItems; proves future-dated item (&gt; as_of) is excluded.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UC1, FR-R1, FR-R2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Build bundle for Ticker B (Isolation Check)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Shows only Ticker B + MACRO items; zero leakage from Ticker 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FR-R3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Switch live fetching OFF and rebuild from cache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Full bundle build succeeds with zero network requests on CPU laptop.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UC2, FR-R9, FR-R10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Edge/Failure Case 1: Simulated HTTP 403 / Scanned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Refused PSX request logs clear message &amp; falls back to cache; scanned PDF sets OCR flag.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NFR-3, FR-R8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Send structured prompt to Qwen3-8B via LLM Interface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Returns Pydantic schema-validated JSON; forced invalid mock triggers retries + clear error.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UC4, FR-M1, FR-M2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Run automated test suite (pytest -v) + Flutter POC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All retrieval, failure-injection, and repository unit tests pass live.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NFR-4, NFR-8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Testing Outcomes, Failure Injection &amp; Defects Fixed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Testing targets the 4 hard rules first, then real-world failure modes from PSX and LLM output.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7 | 10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3474720"/>
                <a:gridCol w="3749039"/>
                <a:gridCol w="109728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Setup &amp; Action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TC-01..03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Bundle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Future-dated fixture; two-ticker fixture; unknown ticker.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Future item absent; tickers isolated; empty bundle [] with no crash.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ID Stability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Build snapshot twice from identical cached inputs.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Identical deterministic EvidenceItem IDs and content hashes.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TC-05..08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Fetcher &amp;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Saved PSX response; mocked 403 error; 2nd cached run; offline mode.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Valid parse; clear message + cache fallback on 403; 0 network calls.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TC-09..10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PDF &amp; Prices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Text PDF vs scanned PDF; psxdata price date range.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Text extracted; scanned PDF flagged for OCR; row counts valid.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TC-11..13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Model &amp; 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Fake invalid JSON model; live GPU schema call; .gitignore check.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Retries up to limit then clear error; valid JSON on GPU; no raw files.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43400"/>
            <a:ext cx="11064240" cy="201168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343400"/>
            <a:ext cx="91440" cy="201168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453128"/>
            <a:ext cx="10744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Defects &amp; Process Findings Caught and Corrected (Table 7.4)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1. Ollama GBNF Assumption: Design docs assumed custom GBNF grammars -&gt; migrated to Pydantic JSON schema in Ollama format parameter.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2. Unnoticed psxdata Token Calls: Price loader ran ~6 times before PSX's 24 Sep request token was noticed in library source -&gt; added rate-limit, cache-once, and --no-prices flag.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3. Announcements Endpoint 404/403: Plain POST failed due to session token + reCAPTCHA -&gt; built cached page parser now; session-based fetcher scheduled for Iteration 2.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4. Portfolio App Unit Suite (Table 8.4): 289+ unit/widget tests added across repository rollback, FakeAuthService, Supabase mappers, validation rules, and net-worth snapshots.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Ownership Breakdown, Repository Hygiene &amp; Milestone Log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Clear individual module ownership and contemporaneous commit history since project restart.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6 | 10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520440" cy="246888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91440" cy="246888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Muhammad Isam (23I-0735)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Role: Retrieval Layer &amp; Local Model Deployment.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Owned Modules: schemas.py, retrieval/bundle.py, fetcher/, data/ (psxdata, PDF extract, normalizer), Ollama Qwen3-8B serving.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Commits: [FILL IN count from git shortlog -sn].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234440"/>
            <a:ext cx="3520440" cy="246888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234440"/>
            <a:ext cx="91440" cy="246888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344168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Shahzeb Rizwan (23I-0610)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Role: Frontend-Backend Connection &amp; Model Deployment.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Owned Modules: Flutter portfolio state/repository architecture, Supabase/Demo data layer, LLM interface &amp; faithfulness perturbation design.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Commits: [FILL IN count from git shortlog -sn].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520440" cy="246888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234440"/>
            <a:ext cx="91440" cy="246888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344168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Aaiz Ur Rehman Kazmi (23I-0589)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Role: FYP-1 Mid Report &amp; Core Logic Functions.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Owned Modules: SRS traceability, technical documentation, validation scripts, core logic helpers &amp; planned SBP macro loader.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Commits: [FILL IN count from git shortlog -sn].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88620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  <a:gridCol w="2926080"/>
              </a:tblGrid>
              <a:tr h="4937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Milestone / Repository Event (Table 8.2)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Verification / Artifact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FYP-1 Wk 4 / 14 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Proposal defence accepted; 7 papers &amp; GPU feasibility reviewed; GBNF &amp; Hao et al. issues found.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Proposal &amp; Design Evolution (Table 5.5)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09–11 Oct 2026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Work restarted; mid rubric analysed; scope narrowed to retrieval first; PSX terms reviewed &amp; email drafted.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docs/sources-and-compliance.md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13 Oct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Automated guarded retrieval decision; PSX 403/token findings logged; 7 sector tickers finalised.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fetcher/, data/, Snapshot Manifest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15–16 Oct 2026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Mid scope agreed with supervisor; repository steps 0–6b &amp; retrieval tests verified; Mid Evaluation.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git log, docs/ai_usage_log.md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62B"/>
                </a:solidFill>
                <a:latin typeface="Calibri"/>
              </a:defRPr>
            </a:pPr>
            <a:r>
              <a:t>Responsible Tool Disclosure, Risks &amp; Remaining FYP Plan</a:t>
            </a:r>
          </a:p>
          <a:p>
            <a:pPr>
              <a:defRPr sz="1250">
                <a:solidFill>
                  <a:srgbClr val="5F6E73"/>
                </a:solidFill>
                <a:latin typeface="Calibri"/>
              </a:defRPr>
            </a:pPr>
            <a:r>
              <a:t>Contemporaneous GenAI session logging (Table 8.4), active risk mitigations, and Iteration 2 roadmap.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5440" y="384048"/>
            <a:ext cx="2423160" cy="384048"/>
          </a:xfrm>
          <a:prstGeom prst="roundRect">
            <a:avLst/>
          </a:prstGeom>
          <a:solidFill>
            <a:srgbClr val="246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Criterion 8 | 10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237744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91440" cy="237744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Responsible GenAI &amp; External Tool Disclosure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Contemporaneous Log: Recorded session-by-session in docs/ai_usage_log.md (Table 8.4) as work happened—never reconstructed afterwards.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Tools Disclosed: Claude (planning, rubric alignment, report draft), Claude Code Sonnet/Opus 5.5 (retrieval refactoring, Flutter repository/auth/validation steps 0–6b), Gemini (PSX legal cross-check).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Human Verification Protocol: Every generated file was code-reviewed and tested via pytest / flutter test on offline fakes; core contracts, as-of rules, and faithfulness design are 100% team-owned.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94960" cy="2377440"/>
          </a:xfrm>
          <a:prstGeom prst="roundRect">
            <a:avLst/>
          </a:prstGeom>
          <a:solidFill>
            <a:srgbClr val="E6ECEB"/>
          </a:solidFill>
          <a:ln>
            <a:solidFill>
              <a:srgbClr val="D2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91440" cy="2377440"/>
          </a:xfrm>
          <a:prstGeom prst="rect">
            <a:avLst/>
          </a:prstGeom>
          <a:solidFill>
            <a:srgbClr val="4CA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344168"/>
            <a:ext cx="5074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625A"/>
                </a:solidFill>
              </a:defRPr>
            </a:pPr>
            <a:r>
              <a:t>Top Project Risks &amp; Active Mitigations (Table 8.6)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1. PSX Tightens Access (High/High): Swappable fetcher interface + local cache + snapshots ensure demos never depend on live PSX calls.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2. Faithfulness Method Finality (Med/High): Settling perturbation pipeline around new base paper is Milestone 1 of Iteration 2.</a:t>
            </a:r>
          </a:p>
          <a:p>
            <a:pPr>
              <a:spcAft>
                <a:spcPts val="400"/>
              </a:spcAft>
              <a:defRPr sz="1150">
                <a:solidFill>
                  <a:srgbClr val="1E262B"/>
                </a:solidFill>
              </a:defRPr>
            </a:pPr>
            <a:r>
              <a:t>• 3. 10 GB VRAM Context Limit (Med/Med): Q4_K_M quantisation (~5 GB) + bundle token measurement + BM25 ranking fallback.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947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2286000"/>
                <a:gridCol w="2103120"/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Iteration 2 Milestone (Towards FYP-1 Final — ~45% Implementation Target)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Window</a:t>
                      </a:r>
                    </a:p>
                  </a:txBody>
                  <a:tcPr>
                    <a:solidFill>
                      <a:srgbClr val="1E262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1. Session-based PSX announcements fetcher + 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Muhammad Isam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Late Oct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2. Gold set queries, BM25 Recall@5 / MRR evaluation &amp; embedding decision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Isam / Shahzeb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Early Nov 2026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3. SBP EasyData macro indicator loader (MACRO EvidenceItems)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Aaiz Ur Rehman Kazmi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Nov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4. Thin End-to-End Slice: EvidenceBundle -&gt; 1 Agent turn citing valid Evidence IDs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Muhammad Isam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Mid Nov 2026</a:t>
                      </a:r>
                    </a:p>
                  </a:txBody>
                  <a:tcPr>
                    <a:solidFill>
                      <a:srgbClr val="E6ECE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5. Finalise perturbation faithfulness method + Phase 1 pipeline + FastAPI/Flutter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Shahzeb / Aaiz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62B"/>
                          </a:solidFill>
                        </a:defRPr>
                      </a:pPr>
                      <a:r>
                        <a:t>Late Nov – Dec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